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5" r:id="rId10"/>
    <p:sldId id="339" r:id="rId11"/>
    <p:sldId id="340" r:id="rId12"/>
    <p:sldId id="341" r:id="rId13"/>
    <p:sldId id="344"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7BEC2C-83FE-4EE3-9C29-091CA4887EE5}" v="4" dt="2025-10-17T14:15:45.74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5" d="100"/>
          <a:sy n="75" d="100"/>
        </p:scale>
        <p:origin x="67"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580095" y="2794000"/>
            <a:ext cx="4199666" cy="861497"/>
          </a:xfrm>
        </p:spPr>
        <p:txBody>
          <a:bodyPr>
            <a:normAutofit fontScale="85000" lnSpcReduction="10000"/>
          </a:bodyPr>
          <a:lstStyle/>
          <a:p>
            <a:pPr algn="r"/>
            <a:r>
              <a:rPr lang="en-US" b="0" dirty="0">
                <a:solidFill>
                  <a:schemeClr val="tx1"/>
                </a:solidFill>
              </a:rPr>
              <a:t>Adarsh Kumar Singh</a:t>
            </a:r>
          </a:p>
          <a:p>
            <a:pPr algn="r"/>
            <a:r>
              <a:rPr lang="en-IN" b="0" dirty="0">
                <a:solidFill>
                  <a:schemeClr val="tx1"/>
                </a:solidFill>
              </a:rPr>
              <a:t>INTERNSHIP_ 17546440516895be537820f</a:t>
            </a:r>
            <a:endParaRPr lang="en-IN" b="0" dirty="0">
              <a:solidFill>
                <a:schemeClr val="tx1">
                  <a:lumMod val="85000"/>
                  <a:lumOff val="15000"/>
                </a:schemeClr>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62282" y="2050553"/>
            <a:ext cx="6049309" cy="743448"/>
          </a:xfrm>
        </p:spPr>
        <p:txBody>
          <a:bodyPr>
            <a:normAutofit/>
          </a:bodyPr>
          <a:lstStyle/>
          <a:p>
            <a:r>
              <a:rPr lang="en-GB" dirty="0"/>
              <a:t>               NETFLIX DATA ANALYSIS</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10000"/>
          </a:bodyPr>
          <a:lstStyle/>
          <a:p>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lang="en-IN" dirty="0"/>
          </a:p>
          <a:p>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a:t>
            </a:r>
            <a:endParaRPr lang="en-IN" dirty="0"/>
          </a:p>
          <a:p>
            <a:pPr>
              <a:lnSpc>
                <a:spcPct val="150000"/>
              </a:lnSpc>
            </a:pPr>
            <a:endParaRPr lang="en-IN" sz="1800" dirty="0">
              <a:latin typeface="+mj-lt"/>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316086"/>
            <a:ext cx="6276109" cy="727753"/>
          </a:xfrm>
        </p:spPr>
        <p:txBody>
          <a:bodyPr>
            <a:normAutofit fontScale="90000"/>
          </a:bodyPr>
          <a:lstStyle/>
          <a:p>
            <a:r>
              <a:rPr lang="en-GB" dirty="0"/>
              <a:t>Project Description</a:t>
            </a:r>
            <a:br>
              <a:rPr lang="en-GB" dirty="0"/>
            </a:br>
            <a:br>
              <a:rPr lang="en-GB" dirty="0"/>
            </a:br>
            <a:r>
              <a:rPr lang="en-US" sz="1800" b="0" dirty="0"/>
              <a:t>This project performs an in-depth exploratory data analysis (EDA) on the Netflix dataset, which contains details for over 7,700 movies and TV shows.</a:t>
            </a:r>
            <a:br>
              <a:rPr lang="en-US" sz="1800" b="0" dirty="0"/>
            </a:br>
            <a:br>
              <a:rPr lang="en-US" sz="1800" b="0" dirty="0"/>
            </a:br>
            <a:r>
              <a:rPr lang="en-US" sz="1800" b="0" dirty="0"/>
              <a:t>The process involved:</a:t>
            </a:r>
            <a:br>
              <a:rPr lang="en-US" sz="1800" b="0" dirty="0"/>
            </a:br>
            <a:br>
              <a:rPr lang="en-US" sz="1800" b="0" dirty="0"/>
            </a:br>
            <a:r>
              <a:rPr lang="en-US" sz="1800" b="0" dirty="0"/>
              <a:t>- </a:t>
            </a:r>
            <a:r>
              <a:rPr lang="en-US" sz="1800" dirty="0"/>
              <a:t>Data Cleaning</a:t>
            </a:r>
            <a:r>
              <a:rPr lang="en-US" sz="1800" b="0" dirty="0"/>
              <a:t>: Handling missing values in directors, cast, and country, and standardizing the date formats.</a:t>
            </a:r>
            <a:br>
              <a:rPr lang="en-US" sz="1800" b="0" dirty="0"/>
            </a:br>
            <a:br>
              <a:rPr lang="en-US" sz="1800" b="0" dirty="0"/>
            </a:br>
            <a:r>
              <a:rPr lang="en-US" sz="1800" b="0" dirty="0"/>
              <a:t>- </a:t>
            </a:r>
            <a:r>
              <a:rPr lang="en-US" sz="1800" dirty="0"/>
              <a:t>Exploratory Analysis</a:t>
            </a:r>
            <a:r>
              <a:rPr lang="en-US" sz="1800" b="0" dirty="0"/>
              <a:t>: Investigating the distribution of content types, identifying the most popular genres and top contributing countries.</a:t>
            </a:r>
            <a:br>
              <a:rPr lang="en-US" sz="1800" b="0" dirty="0"/>
            </a:br>
            <a:br>
              <a:rPr lang="en-US" sz="1800" b="0" dirty="0"/>
            </a:br>
            <a:r>
              <a:rPr lang="en-US" sz="1800" b="0" dirty="0"/>
              <a:t>- </a:t>
            </a:r>
            <a:r>
              <a:rPr lang="en-US" sz="1800" dirty="0"/>
              <a:t>Deeper Analysis</a:t>
            </a:r>
            <a:r>
              <a:rPr lang="en-US" sz="1800" b="0" dirty="0"/>
              <a:t>: Examining content ratings, runtimes, and temporal release patterns (monthly and daily schedules).</a:t>
            </a:r>
            <a:br>
              <a:rPr lang="en-US" sz="1800" b="0" dirty="0"/>
            </a:br>
            <a:br>
              <a:rPr lang="en-US" sz="1800" b="0" dirty="0"/>
            </a:br>
            <a:r>
              <a:rPr lang="en-US" sz="1800" b="0" dirty="0"/>
              <a:t>The ultimate goal is to synthesize these findings into a clear summary of Netflix's content strategy and provide strategic recommendations for future growth.</a:t>
            </a:r>
            <a:br>
              <a:rPr lang="en-GB" sz="1800" b="0" dirty="0"/>
            </a:b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0" indent="0">
              <a:buNone/>
            </a:pPr>
            <a:r>
              <a:rPr lang="en-US" dirty="0"/>
              <a:t>The insights from this analysis are primarily for key decision-makers and strategists within Netflix, including:</a:t>
            </a:r>
          </a:p>
          <a:p>
            <a:r>
              <a:rPr lang="en-US" b="1" dirty="0"/>
              <a:t>Content Acquisition &amp; Production Teams:</a:t>
            </a:r>
            <a:r>
              <a:rPr lang="en-US" dirty="0"/>
              <a:t> To inform decisions on what shows and movies to license or produce.</a:t>
            </a:r>
          </a:p>
          <a:p>
            <a:r>
              <a:rPr lang="en-US" b="1" dirty="0"/>
              <a:t>Marketing &amp; Strategy Executives:</a:t>
            </a:r>
            <a:r>
              <a:rPr lang="en-US" dirty="0"/>
              <a:t> To understand audience preferences and guide marketing campaigns.</a:t>
            </a:r>
          </a:p>
          <a:p>
            <a:r>
              <a:rPr lang="en-US" b="1" dirty="0"/>
              <a:t>Business Intelligence &amp; Data Analysts:</a:t>
            </a:r>
            <a:r>
              <a:rPr lang="en-US" dirty="0"/>
              <a:t> To provide a foundational analysis for deeper, more specific business questions.</a:t>
            </a:r>
          </a:p>
          <a:p>
            <a:pPr algn="just">
              <a:lnSpc>
                <a:spcPct val="150000"/>
              </a:lnSpc>
            </a:pPr>
            <a:endParaRPr lang="en-IN" dirty="0">
              <a:latin typeface="+mj-lt"/>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84941" y="1463105"/>
            <a:ext cx="7640320" cy="5243448"/>
          </a:xfrm>
        </p:spPr>
        <p:txBody>
          <a:bodyPr/>
          <a:lstStyle/>
          <a:p>
            <a:pPr lvl="1">
              <a:lnSpc>
                <a:spcPct val="150000"/>
              </a:lnSpc>
              <a:buFont typeface="Arial" panose="020B0604020202020204" pitchFamily="34" charset="0"/>
              <a:buChar char="•"/>
            </a:pPr>
            <a:r>
              <a:rPr lang="en-US" b="1" dirty="0"/>
              <a:t>Pandas:</a:t>
            </a:r>
            <a:r>
              <a:rPr lang="en-US" dirty="0"/>
              <a:t> For data manipulation, cleaning, and structuring.</a:t>
            </a:r>
          </a:p>
          <a:p>
            <a:pPr lvl="1">
              <a:lnSpc>
                <a:spcPct val="150000"/>
              </a:lnSpc>
              <a:buFont typeface="Arial" panose="020B0604020202020204" pitchFamily="34" charset="0"/>
              <a:buChar char="•"/>
            </a:pPr>
            <a:r>
              <a:rPr lang="en-US" b="1" dirty="0"/>
              <a:t>NumPy:</a:t>
            </a:r>
            <a:r>
              <a:rPr lang="en-US" dirty="0"/>
              <a:t> For numerical operations.</a:t>
            </a:r>
          </a:p>
          <a:p>
            <a:pPr lvl="1">
              <a:lnSpc>
                <a:spcPct val="150000"/>
              </a:lnSpc>
              <a:buFont typeface="Arial" panose="020B0604020202020204" pitchFamily="34" charset="0"/>
              <a:buChar char="•"/>
            </a:pPr>
            <a:r>
              <a:rPr lang="en-US" b="1" dirty="0"/>
              <a:t>Matplotlib &amp; Seaborn: </a:t>
            </a:r>
            <a:r>
              <a:rPr lang="en-US" dirty="0"/>
              <a:t>For creating a wide range of static, animated, and interactive visualizations.</a:t>
            </a:r>
          </a:p>
          <a:p>
            <a:pPr lvl="1">
              <a:lnSpc>
                <a:spcPct val="150000"/>
              </a:lnSpc>
              <a:buFont typeface="Arial" panose="020B0604020202020204" pitchFamily="34" charset="0"/>
              <a:buChar char="•"/>
            </a:pPr>
            <a:r>
              <a:rPr lang="en-US" b="1" dirty="0" err="1"/>
              <a:t>WordCloud</a:t>
            </a:r>
            <a:r>
              <a:rPr lang="en-US" b="1" dirty="0"/>
              <a:t>:</a:t>
            </a:r>
            <a:r>
              <a:rPr lang="en-US" dirty="0"/>
              <a:t> For generating a visual representation of the most common themes in content descriptions.</a:t>
            </a:r>
          </a:p>
          <a:p>
            <a:pPr lvl="1">
              <a:lnSpc>
                <a:spcPct val="150000"/>
              </a:lnSpc>
              <a:buFont typeface="Arial" panose="020B0604020202020204" pitchFamily="34" charset="0"/>
              <a:buChar char="•"/>
            </a:pPr>
            <a:r>
              <a:rPr lang="en-US" b="1" dirty="0" err="1"/>
              <a:t>Jupyter</a:t>
            </a:r>
            <a:r>
              <a:rPr lang="en-US" b="1" dirty="0"/>
              <a:t> Notebook: </a:t>
            </a:r>
            <a:r>
              <a:rPr lang="en-US" dirty="0"/>
              <a:t>Cloud-based environment for running the project</a:t>
            </a:r>
          </a:p>
          <a:p>
            <a:pPr lvl="1">
              <a:lnSpc>
                <a:spcPct val="150000"/>
              </a:lnSpc>
              <a:buFont typeface="Arial" panose="020B0604020202020204" pitchFamily="34" charset="0"/>
              <a:buChar char="•"/>
            </a:pPr>
            <a:r>
              <a:rPr lang="en-US" b="1" dirty="0"/>
              <a:t>File handling libraries: </a:t>
            </a:r>
            <a:r>
              <a:rPr lang="en-US" dirty="0" err="1"/>
              <a:t>openpyxl</a:t>
            </a:r>
            <a:r>
              <a:rPr lang="en-US" dirty="0"/>
              <a:t> (for Excel) and built-in CSV handling</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fade">
                                      <p:cBhvr>
                                        <p:cTn id="45" dur="1000"/>
                                        <p:tgtEl>
                                          <p:spTgt spid="7">
                                            <p:txEl>
                                              <p:pRg st="5" end="5"/>
                                            </p:txEl>
                                          </p:spTgt>
                                        </p:tgtEl>
                                      </p:cBhvr>
                                    </p:animEffect>
                                    <p:anim calcmode="lin" valueType="num">
                                      <p:cBhvr>
                                        <p:cTn id="4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111-EF50-D374-A0CC-BF4D5EBB9DCE}"/>
              </a:ext>
            </a:extLst>
          </p:cNvPr>
          <p:cNvSpPr>
            <a:spLocks noGrp="1"/>
          </p:cNvSpPr>
          <p:nvPr>
            <p:ph type="title"/>
          </p:nvPr>
        </p:nvSpPr>
        <p:spPr>
          <a:xfrm>
            <a:off x="677334" y="609600"/>
            <a:ext cx="8596668" cy="681318"/>
          </a:xfrm>
        </p:spPr>
        <p:txBody>
          <a:bodyPr/>
          <a:lstStyle/>
          <a:p>
            <a:r>
              <a:rPr lang="en-IN" dirty="0">
                <a:solidFill>
                  <a:schemeClr val="tx1"/>
                </a:solidFill>
              </a:rPr>
              <a:t>Python Code</a:t>
            </a:r>
          </a:p>
        </p:txBody>
      </p:sp>
      <p:pic>
        <p:nvPicPr>
          <p:cNvPr id="6" name="Content Placeholder 5">
            <a:extLst>
              <a:ext uri="{FF2B5EF4-FFF2-40B4-BE49-F238E27FC236}">
                <a16:creationId xmlns:a16="http://schemas.microsoft.com/office/drawing/2014/main" id="{A8B50FAB-D322-9138-8B6B-C609785564B9}"/>
              </a:ext>
            </a:extLst>
          </p:cNvPr>
          <p:cNvPicPr>
            <a:picLocks noGrp="1" noChangeAspect="1"/>
          </p:cNvPicPr>
          <p:nvPr>
            <p:ph idx="1"/>
          </p:nvPr>
        </p:nvPicPr>
        <p:blipFill>
          <a:blip r:embed="rId2"/>
          <a:stretch>
            <a:fillRect/>
          </a:stretch>
        </p:blipFill>
        <p:spPr>
          <a:xfrm>
            <a:off x="775953" y="1290918"/>
            <a:ext cx="3796048" cy="1595717"/>
          </a:xfrm>
          <a:prstGeom prst="rect">
            <a:avLst/>
          </a:prstGeom>
        </p:spPr>
      </p:pic>
      <p:sp>
        <p:nvSpPr>
          <p:cNvPr id="4" name="Slide Number Placeholder 3">
            <a:extLst>
              <a:ext uri="{FF2B5EF4-FFF2-40B4-BE49-F238E27FC236}">
                <a16:creationId xmlns:a16="http://schemas.microsoft.com/office/drawing/2014/main" id="{34DD9FC8-8663-6161-583C-4B77255B7927}"/>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8" name="Picture 7">
            <a:extLst>
              <a:ext uri="{FF2B5EF4-FFF2-40B4-BE49-F238E27FC236}">
                <a16:creationId xmlns:a16="http://schemas.microsoft.com/office/drawing/2014/main" id="{A98A6A26-575C-50CA-3EEF-92319A622131}"/>
              </a:ext>
            </a:extLst>
          </p:cNvPr>
          <p:cNvPicPr>
            <a:picLocks noChangeAspect="1"/>
          </p:cNvPicPr>
          <p:nvPr/>
        </p:nvPicPr>
        <p:blipFill>
          <a:blip r:embed="rId3"/>
          <a:stretch>
            <a:fillRect/>
          </a:stretch>
        </p:blipFill>
        <p:spPr>
          <a:xfrm>
            <a:off x="775954" y="2886635"/>
            <a:ext cx="3796048" cy="781159"/>
          </a:xfrm>
          <a:prstGeom prst="rect">
            <a:avLst/>
          </a:prstGeom>
        </p:spPr>
      </p:pic>
      <p:pic>
        <p:nvPicPr>
          <p:cNvPr id="10" name="Picture 9">
            <a:extLst>
              <a:ext uri="{FF2B5EF4-FFF2-40B4-BE49-F238E27FC236}">
                <a16:creationId xmlns:a16="http://schemas.microsoft.com/office/drawing/2014/main" id="{78E73CBC-2278-4C28-772D-72214FFC6AC2}"/>
              </a:ext>
            </a:extLst>
          </p:cNvPr>
          <p:cNvPicPr>
            <a:picLocks noChangeAspect="1"/>
          </p:cNvPicPr>
          <p:nvPr/>
        </p:nvPicPr>
        <p:blipFill>
          <a:blip r:embed="rId4"/>
          <a:stretch>
            <a:fillRect/>
          </a:stretch>
        </p:blipFill>
        <p:spPr>
          <a:xfrm>
            <a:off x="775953" y="3667794"/>
            <a:ext cx="3796048" cy="809738"/>
          </a:xfrm>
          <a:prstGeom prst="rect">
            <a:avLst/>
          </a:prstGeom>
        </p:spPr>
      </p:pic>
      <p:pic>
        <p:nvPicPr>
          <p:cNvPr id="12" name="Picture 11">
            <a:extLst>
              <a:ext uri="{FF2B5EF4-FFF2-40B4-BE49-F238E27FC236}">
                <a16:creationId xmlns:a16="http://schemas.microsoft.com/office/drawing/2014/main" id="{AB90603E-F888-75CE-5F02-C7BA970A0DE9}"/>
              </a:ext>
            </a:extLst>
          </p:cNvPr>
          <p:cNvPicPr>
            <a:picLocks noChangeAspect="1"/>
          </p:cNvPicPr>
          <p:nvPr/>
        </p:nvPicPr>
        <p:blipFill>
          <a:blip r:embed="rId5"/>
          <a:stretch>
            <a:fillRect/>
          </a:stretch>
        </p:blipFill>
        <p:spPr>
          <a:xfrm>
            <a:off x="775954" y="4477532"/>
            <a:ext cx="3796048" cy="1928955"/>
          </a:xfrm>
          <a:prstGeom prst="rect">
            <a:avLst/>
          </a:prstGeom>
        </p:spPr>
      </p:pic>
      <p:pic>
        <p:nvPicPr>
          <p:cNvPr id="14" name="Picture 13">
            <a:extLst>
              <a:ext uri="{FF2B5EF4-FFF2-40B4-BE49-F238E27FC236}">
                <a16:creationId xmlns:a16="http://schemas.microsoft.com/office/drawing/2014/main" id="{0A0BA5EA-B347-F6F1-AC9C-83EB27D6AB0C}"/>
              </a:ext>
            </a:extLst>
          </p:cNvPr>
          <p:cNvPicPr>
            <a:picLocks noChangeAspect="1"/>
          </p:cNvPicPr>
          <p:nvPr/>
        </p:nvPicPr>
        <p:blipFill>
          <a:blip r:embed="rId6"/>
          <a:stretch>
            <a:fillRect/>
          </a:stretch>
        </p:blipFill>
        <p:spPr>
          <a:xfrm>
            <a:off x="4572001" y="1290918"/>
            <a:ext cx="5190564" cy="2008094"/>
          </a:xfrm>
          <a:prstGeom prst="rect">
            <a:avLst/>
          </a:prstGeom>
        </p:spPr>
      </p:pic>
      <p:pic>
        <p:nvPicPr>
          <p:cNvPr id="16" name="Picture 15">
            <a:extLst>
              <a:ext uri="{FF2B5EF4-FFF2-40B4-BE49-F238E27FC236}">
                <a16:creationId xmlns:a16="http://schemas.microsoft.com/office/drawing/2014/main" id="{245B875B-62EA-6674-BEA6-429B441D22BF}"/>
              </a:ext>
            </a:extLst>
          </p:cNvPr>
          <p:cNvPicPr>
            <a:picLocks noChangeAspect="1"/>
          </p:cNvPicPr>
          <p:nvPr/>
        </p:nvPicPr>
        <p:blipFill>
          <a:blip r:embed="rId7"/>
          <a:stretch>
            <a:fillRect/>
          </a:stretch>
        </p:blipFill>
        <p:spPr>
          <a:xfrm>
            <a:off x="4572002" y="3299013"/>
            <a:ext cx="5190564" cy="1524000"/>
          </a:xfrm>
          <a:prstGeom prst="rect">
            <a:avLst/>
          </a:prstGeom>
        </p:spPr>
      </p:pic>
      <p:pic>
        <p:nvPicPr>
          <p:cNvPr id="18" name="Picture 17">
            <a:extLst>
              <a:ext uri="{FF2B5EF4-FFF2-40B4-BE49-F238E27FC236}">
                <a16:creationId xmlns:a16="http://schemas.microsoft.com/office/drawing/2014/main" id="{98CEC509-6374-5CA0-CD83-3A88FBB01B93}"/>
              </a:ext>
            </a:extLst>
          </p:cNvPr>
          <p:cNvPicPr>
            <a:picLocks noChangeAspect="1"/>
          </p:cNvPicPr>
          <p:nvPr/>
        </p:nvPicPr>
        <p:blipFill>
          <a:blip r:embed="rId8"/>
          <a:stretch>
            <a:fillRect/>
          </a:stretch>
        </p:blipFill>
        <p:spPr>
          <a:xfrm>
            <a:off x="4572002" y="4823014"/>
            <a:ext cx="5190564" cy="1583474"/>
          </a:xfrm>
          <a:prstGeom prst="rect">
            <a:avLst/>
          </a:prstGeom>
        </p:spPr>
      </p:pic>
    </p:spTree>
    <p:extLst>
      <p:ext uri="{BB962C8B-B14F-4D97-AF65-F5344CB8AC3E}">
        <p14:creationId xmlns:p14="http://schemas.microsoft.com/office/powerpoint/2010/main" val="225267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5305189D-2A16-33CA-6B68-DCE49E5136A3}"/>
              </a:ext>
            </a:extLst>
          </p:cNvPr>
          <p:cNvPicPr>
            <a:picLocks noChangeAspect="1"/>
          </p:cNvPicPr>
          <p:nvPr/>
        </p:nvPicPr>
        <p:blipFill>
          <a:blip r:embed="rId3"/>
          <a:stretch>
            <a:fillRect/>
          </a:stretch>
        </p:blipFill>
        <p:spPr>
          <a:xfrm>
            <a:off x="807164" y="1201586"/>
            <a:ext cx="8525095" cy="510050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16C39E76-3A92-78A1-038E-4B1224400B9B}"/>
              </a:ext>
            </a:extLst>
          </p:cNvPr>
          <p:cNvPicPr>
            <a:picLocks noChangeAspect="1"/>
          </p:cNvPicPr>
          <p:nvPr/>
        </p:nvPicPr>
        <p:blipFill>
          <a:blip r:embed="rId3"/>
          <a:stretch>
            <a:fillRect/>
          </a:stretch>
        </p:blipFill>
        <p:spPr>
          <a:xfrm>
            <a:off x="675957" y="1138518"/>
            <a:ext cx="8620444" cy="5172635"/>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18FC5782-2D6E-9764-00E6-6ABB2500EA36}"/>
              </a:ext>
            </a:extLst>
          </p:cNvPr>
          <p:cNvPicPr>
            <a:picLocks noChangeAspect="1"/>
          </p:cNvPicPr>
          <p:nvPr/>
        </p:nvPicPr>
        <p:blipFill>
          <a:blip r:embed="rId3"/>
          <a:stretch>
            <a:fillRect/>
          </a:stretch>
        </p:blipFill>
        <p:spPr>
          <a:xfrm>
            <a:off x="760152" y="1145361"/>
            <a:ext cx="7828547" cy="5519599"/>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600976" y="1249211"/>
            <a:ext cx="9260201" cy="2368899"/>
          </a:xfrm>
        </p:spPr>
        <p:txBody>
          <a:bodyPr vert="horz" lIns="91440" tIns="45720" rIns="91440" bIns="45720" rtlCol="0" anchor="t">
            <a:normAutofit/>
          </a:bodyPr>
          <a:lstStyle/>
          <a:p>
            <a:pPr marL="0" indent="0">
              <a:buNone/>
            </a:pPr>
            <a:r>
              <a:rPr lang="en-US" dirty="0"/>
              <a:t>https://github.com/Adarsh0710/VOIS_AICTE_Oct2025_MajorProject_AdarshKumarSingh.git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6" name="Picture 5" descr="A certificate of completion with a red ribbon and a red badge&#10;&#10;AI-generated content may be incorrect.">
            <a:extLst>
              <a:ext uri="{FF2B5EF4-FFF2-40B4-BE49-F238E27FC236}">
                <a16:creationId xmlns:a16="http://schemas.microsoft.com/office/drawing/2014/main" id="{C5CEA7CE-DB67-6CB3-C3BB-E2725933FEAE}"/>
              </a:ext>
            </a:extLst>
          </p:cNvPr>
          <p:cNvPicPr>
            <a:picLocks noChangeAspect="1"/>
          </p:cNvPicPr>
          <p:nvPr/>
        </p:nvPicPr>
        <p:blipFill>
          <a:blip r:embed="rId3"/>
          <a:stretch>
            <a:fillRect/>
          </a:stretch>
        </p:blipFill>
        <p:spPr>
          <a:xfrm>
            <a:off x="452453" y="1183154"/>
            <a:ext cx="8869013" cy="5441929"/>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6" name="Picture 5" descr="A certificate of completion with red text and a red ribbon&#10;&#10;AI-generated content may be incorrect.">
            <a:extLst>
              <a:ext uri="{FF2B5EF4-FFF2-40B4-BE49-F238E27FC236}">
                <a16:creationId xmlns:a16="http://schemas.microsoft.com/office/drawing/2014/main" id="{6D960B3D-F829-CE3E-ACF0-74D9598D1D5C}"/>
              </a:ext>
            </a:extLst>
          </p:cNvPr>
          <p:cNvPicPr>
            <a:picLocks noChangeAspect="1"/>
          </p:cNvPicPr>
          <p:nvPr/>
        </p:nvPicPr>
        <p:blipFill>
          <a:blip r:embed="rId3"/>
          <a:stretch>
            <a:fillRect/>
          </a:stretch>
        </p:blipFill>
        <p:spPr>
          <a:xfrm>
            <a:off x="391692" y="1114114"/>
            <a:ext cx="8437348" cy="5743886"/>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601</TotalTime>
  <Words>512</Words>
  <Application>Microsoft Office PowerPoint</Application>
  <PresentationFormat>Widescreen</PresentationFormat>
  <Paragraphs>37</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Facet</vt:lpstr>
      <vt:lpstr>               NETFLIX DATA ANALYSIS</vt:lpstr>
      <vt:lpstr>PROBLEM  STATEMENT</vt:lpstr>
      <vt:lpstr>Project Description  This project performs an in-depth exploratory data analysis (EDA) on the Netflix dataset, which contains details for over 7,700 movies and TV shows.  The process involved:  - Data Cleaning: Handling missing values in directors, cast, and country, and standardizing the date formats.  - Exploratory Analysis: Investigating the distribution of content types, identifying the most popular genres and top contributing countries.  - Deeper Analysis: Examining content ratings, runtimes, and temporal release patterns (monthly and daily schedules).  The ultimate goal is to synthesize these findings into a clear summary of Netflix's content strategy and provide strategic recommendations for future growth. </vt:lpstr>
      <vt:lpstr>WHO ARE THE END USERS?</vt:lpstr>
      <vt:lpstr>Technology Used</vt:lpstr>
      <vt:lpstr>Python Code</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Alure Rahul</cp:lastModifiedBy>
  <cp:revision>112</cp:revision>
  <dcterms:created xsi:type="dcterms:W3CDTF">2021-07-11T13:13:15Z</dcterms:created>
  <dcterms:modified xsi:type="dcterms:W3CDTF">2025-10-17T15:02:21Z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